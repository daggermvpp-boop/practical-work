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Dzień dobry. Tematem mojej pracy praktycznej jest TaskNest — aplikacja webowa do zarządzania zadaniami. Praca obejmuje cztery obszary: Git, bazę danych, administrację bazą i dokumentację.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Plan: przedstawię cel projektu, technologie, a potem kolejno cztery obszary pracy praktycznej: Git, bazę danych, administrację i dokumentację.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Projekt TaskNest to menedżer zadań. Praca praktyczna objęła cztery obszary wymienione na slajdzie: Git, bazę danych, administrację bazą i dokumentację.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Bazą jest PostgreSQL 18 obsługiwany przez pgAdmin 4. Interfejs piszemy w HTML, CSS i JavaScripcie, backend w PHP jest planowany. Używam też Gita, GitHub Actions i Figmy do makiet.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Pracowałem na gałęziach: każda zmiana przechodziła przez Pull Request i merge do main. Repozytorium ma 16 PR-ów. Dodałem .gitignore oraz CI w GitHub Actions, które sprawdza HTML, CSS i JavaScript.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Baza ma trzy tabele: users, tasks i comment. Tabela comment łączy użytkownika i zadanie, a klucze obce kaskadowo usuwają powiązane rekordy.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Trzy skrypty: schema.sql tworzy strukturę, insert-data.sql wgrywa po 5 rekordów, a select-queries.sql zawiera przykładowe zapytania, m.in. złączenie zadań z nazwami użytkowników — po prawej widać prawdziwy wynik.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bazy dodałem konto userek z prawem tylko do odczytu. Test w pgAdmin potwierdził: SELECT działa, a INSERT kończy się błędem permission denied z kodem SQL state 42501. Zrzut ekranu jest w dokumentacji.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Druga część administracji to kopie zapasowe. Opisałem backup w pgAdmin, zasadę 3-2-1, symulację awarii przez DROP TABLE oraz odtworzenie danych. Cały cykl sprawdziłem — po restore wróciło po 5 rekordów w każdej tabeli.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Interfejs zaprojektowałem w Figmie. Motyw jest ciemny i prosty, paleta ma sprawdzony kontrast WCAG, a typografia to Space Grotesk i Manrope.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Cała dokumentacja jest w repozytorium: README opisuje projekt, docs/database.md bazę danych, osobne pliki opisują uprawnienia i kopie zapasowe, a design.md — projekt interfejsu.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Repozytorium ma uporządkowaną strukturę: osobne katalogi na bazę danych, dokumentację, makiety i frontend, a workflow CI jest w .github/workflows.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Podsumowując: wykonałem makiety, bazę danych, zadania z administracji bazą, dokumentację i CI. W następnych krokach planuję backend w PHP oraz interfejs zgodny z makietami. Dziękuję za uwagę.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685800" cy="685800"/>
          </a:xfrm>
          <a:prstGeom prst="roundRect">
            <a:avLst>
              <a:gd name="adj" fmla="val 25000"/>
            </a:avLst>
          </a:prstGeom>
          <a:solidFill>
            <a:srgbClr val="7D6B91"/>
          </a:solidFill>
          <a:ln>
            <a:solidFill>
              <a:srgbClr val="7D6B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DADAFF"/>
                </a:solidFill>
                <a:latin typeface="Segoe UI"/>
              </a:rPr>
              <a:t>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481328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DADAFF"/>
                </a:solidFill>
                <a:latin typeface="Segoe UI"/>
              </a:rPr>
              <a:t>TaskNest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200" b="1">
                <a:solidFill>
                  <a:srgbClr val="DADAFF"/>
                </a:solidFill>
                <a:latin typeface="Segoe UI"/>
              </a:rPr>
              <a:t>Aplikacja webowa do zarządzania zadaniami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4041648"/>
            <a:ext cx="2377440" cy="64008"/>
          </a:xfrm>
          <a:prstGeom prst="rect">
            <a:avLst/>
          </a:prstGeom>
          <a:solidFill>
            <a:srgbClr val="7D6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A99BC0"/>
                </a:solidFill>
                <a:latin typeface="Segoe UI"/>
              </a:rPr>
              <a:t>Git  ·  baza danych  ·  administracja  ·  dokumentacja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99BC0"/>
                </a:solidFill>
                <a:latin typeface="Segoe UI"/>
              </a:rPr>
              <a:t>Praca praktyczna — 4. klasa technikum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99BC0"/>
                </a:solidFill>
                <a:latin typeface="Segoe UI"/>
              </a:rPr>
              <a:t>Autor: daggermvpp-boop  ·  październik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DADAFF"/>
                </a:solidFill>
                <a:latin typeface="Segoe UI"/>
              </a:rPr>
              <a:t>Plan prezentacji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554480" cy="50292"/>
          </a:xfrm>
          <a:prstGeom prst="rect">
            <a:avLst/>
          </a:prstGeom>
          <a:solidFill>
            <a:srgbClr val="7D6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7899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2000" b="0">
                <a:solidFill>
                  <a:srgbClr val="DADAFF"/>
                </a:solidFill>
                <a:latin typeface="Segoe UI"/>
              </a:rPr>
              <a:t>•  1.  Cel projektu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2000" b="0">
                <a:solidFill>
                  <a:srgbClr val="DADAFF"/>
                </a:solidFill>
                <a:latin typeface="Segoe UI"/>
              </a:rPr>
              <a:t>•  2.  Wykorzystane technologie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2000" b="0">
                <a:solidFill>
                  <a:srgbClr val="DADAFF"/>
                </a:solidFill>
                <a:latin typeface="Segoe UI"/>
              </a:rPr>
              <a:t>•  3.  Git — praca z repozytorium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2000" b="0">
                <a:solidFill>
                  <a:srgbClr val="DADAFF"/>
                </a:solidFill>
                <a:latin typeface="Segoe UI"/>
              </a:rPr>
              <a:t>•  4.  Baza danych — struktura i skrypty SQL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2000" b="0">
                <a:solidFill>
                  <a:srgbClr val="DADAFF"/>
                </a:solidFill>
                <a:latin typeface="Segoe UI"/>
              </a:rPr>
              <a:t>•  5.  Administracja — uprawnienia oraz kopie zapasowe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2000" b="0">
                <a:solidFill>
                  <a:srgbClr val="DADAFF"/>
                </a:solidFill>
                <a:latin typeface="Segoe UI"/>
              </a:rPr>
              <a:t>•  6.  Design interfejsu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2000" b="0">
                <a:solidFill>
                  <a:srgbClr val="DADAFF"/>
                </a:solidFill>
                <a:latin typeface="Segoe UI"/>
              </a:rPr>
              <a:t>•  7.  Dokumentacja i podsumowanie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99BC0"/>
                </a:solidFill>
                <a:latin typeface="Segoe UI"/>
              </a:rPr>
              <a:t>TaskNest — praca praktyczna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A99BC0"/>
                </a:solidFill>
                <a:latin typeface="Segoe U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DADAFF"/>
                </a:solidFill>
                <a:latin typeface="Segoe UI"/>
              </a:rPr>
              <a:t>Cel projektu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554480" cy="50292"/>
          </a:xfrm>
          <a:prstGeom prst="rect">
            <a:avLst/>
          </a:prstGeom>
          <a:solidFill>
            <a:srgbClr val="7D6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99BC0"/>
                </a:solidFill>
                <a:latin typeface="Segoe UI"/>
              </a:rPr>
              <a:t>TaskNest — menedżer zadań: konta użytkowników, lista zadań, komentarze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31334A"/>
          </a:solidFill>
          <a:ln w="12700">
            <a:solidFill>
              <a:srgbClr val="7D6B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DADAFF"/>
                </a:solidFill>
                <a:latin typeface="Segoe UI"/>
              </a:rPr>
              <a:t>Git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A99BC0"/>
                </a:solidFill>
                <a:latin typeface="Segoe UI"/>
              </a:rPr>
              <a:t>praca na gałęziach, Pull Requests, CI w GitHub 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31334A"/>
          </a:solidFill>
          <a:ln w="12700">
            <a:solidFill>
              <a:srgbClr val="7D6B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79" y="210312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DADAFF"/>
                </a:solidFill>
                <a:latin typeface="Segoe UI"/>
              </a:rPr>
              <a:t>Baza danych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A99BC0"/>
                </a:solidFill>
                <a:latin typeface="Segoe UI"/>
              </a:rPr>
              <a:t>PostgreSQL 18: tabele users, tasks, comment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79476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31334A"/>
          </a:solidFill>
          <a:ln w="12700">
            <a:solidFill>
              <a:srgbClr val="7D6B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DADAFF"/>
                </a:solidFill>
                <a:latin typeface="Segoe UI"/>
              </a:rPr>
              <a:t>Administracja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A99BC0"/>
                </a:solidFill>
                <a:latin typeface="Segoe UI"/>
              </a:rPr>
              <a:t>konta i uprawnienia, backup i odtwarzanie danych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79476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31334A"/>
          </a:solidFill>
          <a:ln w="12700">
            <a:solidFill>
              <a:srgbClr val="7D6B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406908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DADAFF"/>
                </a:solidFill>
                <a:latin typeface="Segoe UI"/>
              </a:rPr>
              <a:t>Dokumentacja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A99BC0"/>
                </a:solidFill>
                <a:latin typeface="Segoe UI"/>
              </a:rPr>
              <a:t>README, dokumentacja techniczna, makiety, prezentacja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99BC0"/>
                </a:solidFill>
                <a:latin typeface="Segoe UI"/>
              </a:rPr>
              <a:t>TaskNest — praca praktyczna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7395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A99BC0"/>
                </a:solidFill>
                <a:latin typeface="Segoe U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DADAFF"/>
                </a:solidFill>
                <a:latin typeface="Segoe UI"/>
              </a:rPr>
              <a:t>Wykorzystane technologie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554480" cy="50292"/>
          </a:xfrm>
          <a:prstGeom prst="rect">
            <a:avLst/>
          </a:prstGeom>
          <a:solidFill>
            <a:srgbClr val="7D6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6070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DADAFF"/>
                </a:solidFill>
                <a:latin typeface="Segoe UI"/>
              </a:rPr>
              <a:t>Baza danych  —  </a:t>
            </a:r>
            <a:r>
              <a:rPr sz="1900" b="0">
                <a:solidFill>
                  <a:srgbClr val="A99BC0"/>
                </a:solidFill>
                <a:latin typeface="Segoe UI"/>
              </a:rPr>
              <a:t>PostgreSQL 18 + pgAdmin 4 (serwer działa lokalnie)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DADAFF"/>
                </a:solidFill>
                <a:latin typeface="Segoe UI"/>
              </a:rPr>
              <a:t>Interfejs  —  </a:t>
            </a:r>
            <a:r>
              <a:rPr sz="1900" b="0">
                <a:solidFill>
                  <a:srgbClr val="A99BC0"/>
                </a:solidFill>
                <a:latin typeface="Segoe UI"/>
              </a:rPr>
              <a:t>HTML5, CSS3, JavaScript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DADAFF"/>
                </a:solidFill>
                <a:latin typeface="Segoe UI"/>
              </a:rPr>
              <a:t>Backend  —  </a:t>
            </a:r>
            <a:r>
              <a:rPr sz="1900" b="0">
                <a:solidFill>
                  <a:srgbClr val="A99BC0"/>
                </a:solidFill>
                <a:latin typeface="Segoe UI"/>
              </a:rPr>
              <a:t>PHP — planowany kolejny etap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DADAFF"/>
                </a:solidFill>
                <a:latin typeface="Segoe UI"/>
              </a:rPr>
              <a:t>Narzędzia  —  </a:t>
            </a:r>
            <a:r>
              <a:rPr sz="1900" b="0">
                <a:solidFill>
                  <a:srgbClr val="A99BC0"/>
                </a:solidFill>
                <a:latin typeface="Segoe UI"/>
              </a:rPr>
              <a:t>Git, GitHub, GitHub Actions, Figma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>
                <a:solidFill>
                  <a:srgbClr val="DADAFF"/>
                </a:solidFill>
                <a:latin typeface="Segoe UI"/>
              </a:rPr>
              <a:t>Dokumentacja  —  </a:t>
            </a:r>
            <a:r>
              <a:rPr sz="1900" b="0">
                <a:solidFill>
                  <a:srgbClr val="A99BC0"/>
                </a:solidFill>
                <a:latin typeface="Segoe UI"/>
              </a:rPr>
              <a:t>Markdown (README i katalog docs/)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99BC0"/>
                </a:solidFill>
                <a:latin typeface="Segoe UI"/>
              </a:rPr>
              <a:t>TaskNest — praca praktyczna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A99BC0"/>
                </a:solidFill>
                <a:latin typeface="Segoe U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DADAFF"/>
                </a:solidFill>
                <a:latin typeface="Segoe UI"/>
              </a:rPr>
              <a:t>Git — praca z repozytorium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554480" cy="50292"/>
          </a:xfrm>
          <a:prstGeom prst="rect">
            <a:avLst/>
          </a:prstGeom>
          <a:solidFill>
            <a:srgbClr val="7D6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58521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DADAFF"/>
                </a:solidFill>
                <a:latin typeface="Segoe UI"/>
              </a:rPr>
              <a:t>•  każda zmiana na osobnym branchu → Pull Request → merge do main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DADAFF"/>
                </a:solidFill>
                <a:latin typeface="Segoe UI"/>
              </a:rPr>
              <a:t>•  w repozytorium jest 16 Pull Requestów (np. #10 design, #14–#15 skrypty SQL, #16 dokumentacja)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DADAFF"/>
                </a:solidFill>
                <a:latin typeface="Segoe UI"/>
              </a:rPr>
              <a:t>•  .gitignore wyklucza pliki lokalne, node_modules/, bin/, obj/ i kopie bazy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DADAFF"/>
                </a:solidFill>
                <a:latin typeface="Segoe UI"/>
              </a:rPr>
              <a:t>•  GitHub Actions (CI): html-validate, stylelint, node --check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03720" y="1691640"/>
            <a:ext cx="4617720" cy="3931920"/>
          </a:xfrm>
          <a:prstGeom prst="roundRect">
            <a:avLst>
              <a:gd name="adj" fmla="val 5000"/>
            </a:avLst>
          </a:prstGeom>
          <a:solidFill>
            <a:srgbClr val="31334A"/>
          </a:solidFill>
          <a:ln w="12700">
            <a:solidFill>
              <a:srgbClr val="7D6B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69480" y="1965960"/>
            <a:ext cx="39319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50" b="0">
                <a:solidFill>
                  <a:srgbClr val="DADAFF"/>
                </a:solidFill>
                <a:latin typeface="Consolas"/>
              </a:rPr>
              <a:t>main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50" b="0">
                <a:solidFill>
                  <a:srgbClr val="DADAFF"/>
                </a:solidFill>
                <a:latin typeface="Consolas"/>
              </a:rPr>
              <a:t> ├── design            → PR #10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50" b="0">
                <a:solidFill>
                  <a:srgbClr val="DADAFF"/>
                </a:solidFill>
                <a:latin typeface="Consolas"/>
              </a:rPr>
              <a:t> ├── scripts-sql       → PR #14, #15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50" b="0">
                <a:solidFill>
                  <a:srgbClr val="DADAFF"/>
                </a:solidFill>
                <a:latin typeface="Consolas"/>
              </a:rPr>
              <a:t> ├── nazwa-zadania     → PR #11, #13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50" b="0">
                <a:solidFill>
                  <a:srgbClr val="DADAFF"/>
                </a:solidFill>
                <a:latin typeface="Consolas"/>
              </a:rPr>
              <a:t> └── feature/komplet-dokumentacji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50" b="0">
                <a:solidFill>
                  <a:srgbClr val="DADAFF"/>
                </a:solidFill>
                <a:latin typeface="Consolas"/>
              </a:rPr>
              <a:t>                       → PR #16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50" b="0">
                <a:solidFill>
                  <a:srgbClr val="DADAFF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50" b="0">
                <a:solidFill>
                  <a:srgbClr val="DADAFF"/>
                </a:solidFill>
                <a:latin typeface="Consolas"/>
              </a:rPr>
              <a:t>git checkout -b &lt;branch&gt;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50" b="0">
                <a:solidFill>
                  <a:srgbClr val="DADAFF"/>
                </a:solidFill>
                <a:latin typeface="Consolas"/>
              </a:rPr>
              <a:t>git commit -m "..."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50" b="0">
                <a:solidFill>
                  <a:srgbClr val="DADAFF"/>
                </a:solidFill>
                <a:latin typeface="Consolas"/>
              </a:rPr>
              <a:t>git push  →  Pull Request  →  merge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99BC0"/>
                </a:solidFill>
                <a:latin typeface="Segoe UI"/>
              </a:rPr>
              <a:t>TaskNest — praca praktyczna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A99BC0"/>
                </a:solidFill>
                <a:latin typeface="Segoe U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DADAFF"/>
                </a:solidFill>
                <a:latin typeface="Segoe UI"/>
              </a:rPr>
              <a:t>Baza danych — struktura (ERD)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554480" cy="50292"/>
          </a:xfrm>
          <a:prstGeom prst="rect">
            <a:avLst/>
          </a:prstGeom>
          <a:solidFill>
            <a:srgbClr val="7D6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727" y="1508760"/>
            <a:ext cx="10111153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89788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A99BC0"/>
                </a:solidFill>
                <a:latin typeface="Segoe UI"/>
              </a:rPr>
              <a:t>3 tabele  ·  3 klucze obce z ON DELETE CASCADE  ·  unikalne username i 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99BC0"/>
                </a:solidFill>
                <a:latin typeface="Segoe UI"/>
              </a:rPr>
              <a:t>TaskNest — praca praktyczna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A99BC0"/>
                </a:solidFill>
                <a:latin typeface="Segoe U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DADAFF"/>
                </a:solidFill>
                <a:latin typeface="Segoe UI"/>
              </a:rPr>
              <a:t>Baza danych — skrypty i zapytania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554480" cy="50292"/>
          </a:xfrm>
          <a:prstGeom prst="rect">
            <a:avLst/>
          </a:prstGeom>
          <a:solidFill>
            <a:srgbClr val="7D6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53949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0"/>
              </a:spcAft>
            </a:pPr>
            <a:r>
              <a:rPr sz="1700" b="0">
                <a:solidFill>
                  <a:srgbClr val="DADAFF"/>
                </a:solidFill>
                <a:latin typeface="Segoe UI"/>
              </a:rPr>
              <a:t>•  schema.sql — tworzy tabele z kluczami i indeksami</a:t>
            </a:r>
          </a:p>
          <a:p>
            <a:pPr algn="l">
              <a:lnSpc>
                <a:spcPct val="115000"/>
              </a:lnSpc>
              <a:spcAft>
                <a:spcPts val="1500"/>
              </a:spcAft>
            </a:pPr>
            <a:r>
              <a:rPr sz="1700" b="0">
                <a:solidFill>
                  <a:srgbClr val="DADAFF"/>
                </a:solidFill>
                <a:latin typeface="Segoe UI"/>
              </a:rPr>
              <a:t>•  insert-data.sql — 5 rekordów w każdej tabeli (skrypt można uruchamiać wielokrotnie)</a:t>
            </a:r>
          </a:p>
          <a:p>
            <a:pPr algn="l">
              <a:lnSpc>
                <a:spcPct val="115000"/>
              </a:lnSpc>
              <a:spcAft>
                <a:spcPts val="1500"/>
              </a:spcAft>
            </a:pPr>
            <a:r>
              <a:rPr sz="1700" b="0">
                <a:solidFill>
                  <a:srgbClr val="DADAFF"/>
                </a:solidFill>
                <a:latin typeface="Segoe UI"/>
              </a:rPr>
              <a:t>•  select-queries.sql — sortowanie, filtr, GROUP BY, JOIN</a:t>
            </a:r>
          </a:p>
          <a:p>
            <a:pPr algn="l">
              <a:lnSpc>
                <a:spcPct val="115000"/>
              </a:lnSpc>
              <a:spcAft>
                <a:spcPts val="1500"/>
              </a:spcAft>
            </a:pPr>
            <a:r>
              <a:rPr sz="1700" b="0">
                <a:solidFill>
                  <a:srgbClr val="DADAFF"/>
                </a:solidFill>
                <a:latin typeface="Segoe UI"/>
              </a:rPr>
              <a:t>•  wynik GROUP BY: 3 zadania done, 2 pending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691640"/>
            <a:ext cx="5074920" cy="4114800"/>
          </a:xfrm>
          <a:prstGeom prst="roundRect">
            <a:avLst>
              <a:gd name="adj" fmla="val 5000"/>
            </a:avLst>
          </a:prstGeom>
          <a:solidFill>
            <a:srgbClr val="31334A"/>
          </a:solidFill>
          <a:ln w="12700">
            <a:solidFill>
              <a:srgbClr val="7D6B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12280" y="1965960"/>
            <a:ext cx="43891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50" b="0">
                <a:solidFill>
                  <a:srgbClr val="DADAFF"/>
                </a:solidFill>
                <a:latin typeface="Consolas"/>
              </a:rPr>
              <a:t>SELECT t.title, u.username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50" b="0">
                <a:solidFill>
                  <a:srgbClr val="DADAFF"/>
                </a:solidFill>
                <a:latin typeface="Consolas"/>
              </a:rPr>
              <a:t>FROM tasks t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50" b="0">
                <a:solidFill>
                  <a:srgbClr val="DADAFF"/>
                </a:solidFill>
                <a:latin typeface="Consolas"/>
              </a:rPr>
              <a:t>JOIN users u ON u.id = t.user_id;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50" b="0">
                <a:solidFill>
                  <a:srgbClr val="DADAFF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50" b="0">
                <a:solidFill>
                  <a:srgbClr val="DADAFF"/>
                </a:solidFill>
                <a:latin typeface="Consolas"/>
              </a:rPr>
              <a:t>Przygotować makietę  | vlad_dev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50" b="0">
                <a:solidFill>
                  <a:srgbClr val="DADAFF"/>
                </a:solidFill>
                <a:latin typeface="Consolas"/>
              </a:rPr>
              <a:t>Stworzyć bazę danych | admin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50" b="0">
                <a:solidFill>
                  <a:srgbClr val="DADAFF"/>
                </a:solidFill>
                <a:latin typeface="Consolas"/>
              </a:rPr>
              <a:t>Napisać testy         | anna_k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50" b="0">
                <a:solidFill>
                  <a:srgbClr val="DADAFF"/>
                </a:solidFill>
                <a:latin typeface="Consolas"/>
              </a:rPr>
              <a:t>Skonfigurować CI/CD  | maxim_t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50" b="0">
                <a:solidFill>
                  <a:srgbClr val="DADAFF"/>
                </a:solidFill>
                <a:latin typeface="Consolas"/>
              </a:rPr>
              <a:t>Przygotować raport    | elena_prog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99BC0"/>
                </a:solidFill>
                <a:latin typeface="Segoe UI"/>
              </a:rPr>
              <a:t>TaskNest — praca praktyczna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A99BC0"/>
                </a:solidFill>
                <a:latin typeface="Segoe U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DADAFF"/>
                </a:solidFill>
                <a:latin typeface="Segoe UI"/>
              </a:rPr>
              <a:t>Administracja — użytkownicy i uprawnienia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554480" cy="50292"/>
          </a:xfrm>
          <a:prstGeom prst="rect">
            <a:avLst/>
          </a:prstGeom>
          <a:solidFill>
            <a:srgbClr val="7D6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52120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50" b="0">
                <a:solidFill>
                  <a:srgbClr val="DADAFF"/>
                </a:solidFill>
                <a:latin typeface="Segoe UI"/>
              </a:rPr>
              <a:t>•  osobne konto userek — tylko odczyt danych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50" b="0">
                <a:solidFill>
                  <a:srgbClr val="DADAFF"/>
                </a:solidFill>
                <a:latin typeface="Segoe UI"/>
              </a:rPr>
              <a:t>•  GRANT CONNECT / USAGE / SELECT na tabelach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50" b="0">
                <a:solidFill>
                  <a:srgbClr val="DADAFF"/>
                </a:solidFill>
                <a:latin typeface="Segoe UI"/>
              </a:rPr>
              <a:t>•  test: SET ROLE userek → SELECT działa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50" b="0">
                <a:solidFill>
                  <a:srgbClr val="DADAFF"/>
                </a:solidFill>
                <a:latin typeface="Segoe UI"/>
              </a:rPr>
              <a:t>•  INSERT zablokowany: permission denied (SQL state: 42501)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50" b="0">
                <a:solidFill>
                  <a:srgbClr val="DADAFF"/>
                </a:solidFill>
                <a:latin typeface="Segoe UI"/>
              </a:rPr>
              <a:t>•  kontrola: information_schema.role_table_grants → 3 wiersze</a:t>
            </a:r>
          </a:p>
        </p:txBody>
      </p:sp>
      <p:pic>
        <p:nvPicPr>
          <p:cNvPr id="5" name="Picture 4" descr="uprawnienia-pg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691640"/>
            <a:ext cx="6492240" cy="35390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0" y="585216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A99BC0"/>
                </a:solidFill>
                <a:latin typeface="Segoe UI"/>
              </a:rPr>
              <a:t>pgAdmin 4 — test uprawnień w Query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99BC0"/>
                </a:solidFill>
                <a:latin typeface="Segoe UI"/>
              </a:rPr>
              <a:t>TaskNest — praca praktyczna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A99BC0"/>
                </a:solidFill>
                <a:latin typeface="Segoe U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DADAFF"/>
                </a:solidFill>
                <a:latin typeface="Segoe UI"/>
              </a:rPr>
              <a:t>Administracja — kopia zapasowa i odtwarzanie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554480" cy="50292"/>
          </a:xfrm>
          <a:prstGeom prst="rect">
            <a:avLst/>
          </a:prstGeom>
          <a:solidFill>
            <a:srgbClr val="7D6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783080"/>
            <a:ext cx="5212080" cy="3566160"/>
          </a:xfrm>
          <a:prstGeom prst="roundRect">
            <a:avLst>
              <a:gd name="adj" fmla="val 5000"/>
            </a:avLst>
          </a:prstGeom>
          <a:solidFill>
            <a:srgbClr val="31334A"/>
          </a:solidFill>
          <a:ln w="12700">
            <a:solidFill>
              <a:srgbClr val="7D6B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45720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DADAFF"/>
                </a:solidFill>
                <a:latin typeface="Segoe UI"/>
              </a:rPr>
              <a:t>Backup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A99BC0"/>
                </a:solidFill>
                <a:latin typeface="Segoe UI"/>
              </a:rPr>
              <a:t>•  pgAdmin 4: Backup... — format Custom / Tar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A99BC0"/>
                </a:solidFill>
                <a:latin typeface="Segoe UI"/>
              </a:rPr>
              <a:t>•  pg_dump -F c -f kopia.backup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A99BC0"/>
                </a:solidFill>
                <a:latin typeface="Segoe UI"/>
              </a:rPr>
              <a:t>•  zasada 3-2-1: trzy kopie, dwa nośniki, jedna poza siedzibą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A99BC0"/>
                </a:solidFill>
                <a:latin typeface="Segoe UI"/>
              </a:rPr>
              <a:t>•  kopię trzeba testować!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83080"/>
            <a:ext cx="5212080" cy="3566160"/>
          </a:xfrm>
          <a:prstGeom prst="roundRect">
            <a:avLst>
              <a:gd name="adj" fmla="val 5000"/>
            </a:avLst>
          </a:prstGeom>
          <a:solidFill>
            <a:srgbClr val="31334A"/>
          </a:solidFill>
          <a:ln w="12700">
            <a:solidFill>
              <a:srgbClr val="7D6B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057400"/>
            <a:ext cx="45720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DADAFF"/>
                </a:solidFill>
                <a:latin typeface="Segoe UI"/>
              </a:rPr>
              <a:t>Restore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A99BC0"/>
                </a:solidFill>
                <a:latin typeface="Segoe UI"/>
              </a:rPr>
              <a:t>•  awaria: DROP TABLE users CASCADE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A99BC0"/>
                </a:solidFill>
                <a:latin typeface="Segoe UI"/>
              </a:rPr>
              <a:t>•  pgAdmin 4: Restore... + opcja Clean before restore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A99BC0"/>
                </a:solidFill>
                <a:latin typeface="Segoe UI"/>
              </a:rPr>
              <a:t>•  pg_restore --clean --if-exists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A99BC0"/>
                </a:solidFill>
                <a:latin typeface="Segoe UI"/>
              </a:rPr>
              <a:t>•  weryfikacja: liczba rekordów i klucze obce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6235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8FD6B0"/>
                </a:solidFill>
                <a:latin typeface="Segoe UI"/>
              </a:rPr>
              <a:t>Cykl sprawdzony: kopia → awaria → restore → weryfikacja (5 / 5 / 5 rekordów)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99BC0"/>
                </a:solidFill>
                <a:latin typeface="Segoe UI"/>
              </a:rPr>
              <a:t>TaskNest — praca praktyczna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7395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A99BC0"/>
                </a:solidFill>
                <a:latin typeface="Segoe U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DADAFF"/>
                </a:solidFill>
                <a:latin typeface="Segoe UI"/>
              </a:rPr>
              <a:t>Design interfejsu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554480" cy="50292"/>
          </a:xfrm>
          <a:prstGeom prst="rect">
            <a:avLst/>
          </a:prstGeom>
          <a:solidFill>
            <a:srgbClr val="7D6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99BC0"/>
                </a:solidFill>
                <a:latin typeface="Segoe UI"/>
              </a:rPr>
              <a:t>Makiety wykonane w Figmie — ciemny, prosty motyw</a:t>
            </a:r>
          </a:p>
        </p:txBody>
      </p:sp>
      <p:pic>
        <p:nvPicPr>
          <p:cNvPr id="5" name="Picture 4" descr="01-logowa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19" y="1691640"/>
            <a:ext cx="4023360" cy="2514600"/>
          </a:xfrm>
          <a:prstGeom prst="rect">
            <a:avLst/>
          </a:prstGeom>
        </p:spPr>
      </p:pic>
      <p:pic>
        <p:nvPicPr>
          <p:cNvPr id="6" name="Picture 5" descr="03-lista-zad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91640"/>
            <a:ext cx="4023360" cy="23218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25780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A99BC0"/>
                </a:solidFill>
                <a:latin typeface="Segoe UI"/>
              </a:rPr>
              <a:t>•  paleta: #272838 (tło) · #5D536B (główny) · #DADAFF (tekst)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A99BC0"/>
                </a:solidFill>
                <a:latin typeface="Segoe UI"/>
              </a:rPr>
              <a:t>•  kontrast tekstu na tle 10,68 : 1 (WCAG AAA), przyciski AA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A99BC0"/>
                </a:solidFill>
                <a:latin typeface="Segoe UI"/>
              </a:rPr>
              <a:t>•  czcionki: Space Grotesk (nagłówki), Manrope (treść)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99BC0"/>
                </a:solidFill>
                <a:latin typeface="Segoe UI"/>
              </a:rPr>
              <a:t>TaskNest — praca praktyczna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A99BC0"/>
                </a:solidFill>
                <a:latin typeface="Segoe U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DADAFF"/>
                </a:solidFill>
                <a:latin typeface="Segoe UI"/>
              </a:rPr>
              <a:t>Dokumentacja projektu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554480" cy="50292"/>
          </a:xfrm>
          <a:prstGeom prst="rect">
            <a:avLst/>
          </a:prstGeom>
          <a:solidFill>
            <a:srgbClr val="7D6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7899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DADAFF"/>
                </a:solidFill>
                <a:latin typeface="Segoe UI"/>
              </a:rPr>
              <a:t>•  README.md  —  </a:t>
            </a:r>
            <a:r>
              <a:rPr sz="1700" b="0">
                <a:solidFill>
                  <a:srgbClr val="A99BC0"/>
                </a:solidFill>
                <a:latin typeface="Segoe UI"/>
              </a:rPr>
              <a:t>opis projektu, technologie, baza danych, struktura, instrukcja uruchomienia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DADAFF"/>
                </a:solidFill>
                <a:latin typeface="Segoe UI"/>
              </a:rPr>
              <a:t>•  docs/database.md  —  </a:t>
            </a:r>
            <a:r>
              <a:rPr sz="1700" b="0">
                <a:solidFill>
                  <a:srgbClr val="A99BC0"/>
                </a:solidFill>
                <a:latin typeface="Segoe UI"/>
              </a:rPr>
              <a:t>diagram ERD, opis tabel i relacji, normalizacja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DADAFF"/>
                </a:solidFill>
                <a:latin typeface="Segoe UI"/>
              </a:rPr>
              <a:t>•  docs/database-roles.md  —  </a:t>
            </a:r>
            <a:r>
              <a:rPr sz="1700" b="0">
                <a:solidFill>
                  <a:srgbClr val="A99BC0"/>
                </a:solidFill>
                <a:latin typeface="Segoe UI"/>
              </a:rPr>
              <a:t>użytkownicy i uprawnienia w PostgreSQL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DADAFF"/>
                </a:solidFill>
                <a:latin typeface="Segoe UI"/>
              </a:rPr>
              <a:t>•  docs/backup-restore.md  —  </a:t>
            </a:r>
            <a:r>
              <a:rPr sz="1700" b="0">
                <a:solidFill>
                  <a:srgbClr val="A99BC0"/>
                </a:solidFill>
                <a:latin typeface="Segoe UI"/>
              </a:rPr>
              <a:t>kopia zapasowa i odtwarzanie bazy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DADAFF"/>
                </a:solidFill>
                <a:latin typeface="Segoe UI"/>
              </a:rPr>
              <a:t>•  docs/design.md  —  </a:t>
            </a:r>
            <a:r>
              <a:rPr sz="1700" b="0">
                <a:solidFill>
                  <a:srgbClr val="A99BC0"/>
                </a:solidFill>
                <a:latin typeface="Segoe UI"/>
              </a:rPr>
              <a:t>makiety, paleta, kontrast, czcionki, logo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DADAFF"/>
                </a:solidFill>
                <a:latin typeface="Segoe UI"/>
              </a:rPr>
              <a:t>•  docs/prezentacja/  —  </a:t>
            </a:r>
            <a:r>
              <a:rPr sz="1700" b="0">
                <a:solidFill>
                  <a:srgbClr val="A99BC0"/>
                </a:solidFill>
                <a:latin typeface="Segoe UI"/>
              </a:rPr>
              <a:t>ta prezentacja (PPTX)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99BC0"/>
                </a:solidFill>
                <a:latin typeface="Segoe UI"/>
              </a:rPr>
              <a:t>TaskNest — praca praktyczna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A99BC0"/>
                </a:solidFill>
                <a:latin typeface="Segoe U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DADAFF"/>
                </a:solidFill>
                <a:latin typeface="Segoe UI"/>
              </a:rPr>
              <a:t>Struktura repozytorium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554480" cy="50292"/>
          </a:xfrm>
          <a:prstGeom prst="rect">
            <a:avLst/>
          </a:prstGeom>
          <a:solidFill>
            <a:srgbClr val="7D6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10789920" cy="4480560"/>
          </a:xfrm>
          <a:prstGeom prst="roundRect">
            <a:avLst>
              <a:gd name="adj" fmla="val 5000"/>
            </a:avLst>
          </a:prstGeom>
          <a:solidFill>
            <a:srgbClr val="31334A"/>
          </a:solidFill>
          <a:ln w="12700">
            <a:solidFill>
              <a:srgbClr val="7D6B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10058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DADAFF"/>
                </a:solidFill>
                <a:latin typeface="Consolas"/>
              </a:rPr>
              <a:t>Practical-work/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DADAFF"/>
                </a:solidFill>
                <a:latin typeface="Consolas"/>
              </a:rPr>
              <a:t>├── .github/workflows/ci.yaml   # CI: html-validate, stylelint, node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DADAFF"/>
                </a:solidFill>
                <a:latin typeface="Consolas"/>
              </a:rPr>
              <a:t>├── backend/                    # backend (PHP) — planowany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DADAFF"/>
                </a:solidFill>
                <a:latin typeface="Consolas"/>
              </a:rPr>
              <a:t>├── database/                   # schema.sql, insert-data.sql,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DADAFF"/>
                </a:solidFill>
                <a:latin typeface="Consolas"/>
              </a:rPr>
              <a:t>│                            # select-queries.sql, erd.png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DADAFF"/>
                </a:solidFill>
                <a:latin typeface="Consolas"/>
              </a:rPr>
              <a:t>├── design/                     # makiety ekranów (Figma)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DADAFF"/>
                </a:solidFill>
                <a:latin typeface="Consolas"/>
              </a:rPr>
              <a:t>├── docs/                       # dokumentacja + prezentacja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DADAFF"/>
                </a:solidFill>
                <a:latin typeface="Consolas"/>
              </a:rPr>
              <a:t>├── frontend/                   # HTML / CSS / JavaScript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DADAFF"/>
                </a:solidFill>
                <a:latin typeface="Consolas"/>
              </a:rPr>
              <a:t>├── tests/                      # testy — planowane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DADAFF"/>
                </a:solidFill>
                <a:latin typeface="Consolas"/>
              </a:rPr>
              <a:t>├── .gitignore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DADAFF"/>
                </a:solidFill>
                <a:latin typeface="Consolas"/>
              </a:rPr>
              <a:t>└── README.md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99BC0"/>
                </a:solidFill>
                <a:latin typeface="Segoe UI"/>
              </a:rPr>
              <a:t>TaskNest — praca praktyczna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A99BC0"/>
                </a:solidFill>
                <a:latin typeface="Segoe U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DADAFF"/>
                </a:solidFill>
                <a:latin typeface="Segoe UI"/>
              </a:rPr>
              <a:t>Podsumowanie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554480" cy="50292"/>
          </a:xfrm>
          <a:prstGeom prst="rect">
            <a:avLst/>
          </a:prstGeom>
          <a:solidFill>
            <a:srgbClr val="7D6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5212080" cy="3749039"/>
          </a:xfrm>
          <a:prstGeom prst="roundRect">
            <a:avLst>
              <a:gd name="adj" fmla="val 5000"/>
            </a:avLst>
          </a:prstGeom>
          <a:solidFill>
            <a:srgbClr val="31334A"/>
          </a:solidFill>
          <a:ln w="12700">
            <a:solidFill>
              <a:srgbClr val="8FD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8FD6B0"/>
                </a:solidFill>
                <a:latin typeface="Segoe UI"/>
              </a:rPr>
              <a:t>Wykonane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DADAFF"/>
                </a:solidFill>
                <a:latin typeface="Segoe UI"/>
              </a:rPr>
              <a:t>✓  makiety i projekt interfejsu (Figma)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DADAFF"/>
                </a:solidFill>
                <a:latin typeface="Segoe UI"/>
              </a:rPr>
              <a:t>✓  baza danych: struktura, dane, zapytania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DADAFF"/>
                </a:solidFill>
                <a:latin typeface="Segoe UI"/>
              </a:rPr>
              <a:t>✓  administracja: uprawnienia, backup/restore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DADAFF"/>
                </a:solidFill>
                <a:latin typeface="Segoe UI"/>
              </a:rPr>
              <a:t>✓  dokumentacja: README + docs + prezentacja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DADAFF"/>
                </a:solidFill>
                <a:latin typeface="Segoe UI"/>
              </a:rPr>
              <a:t>✓  CI w GitHub 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37360"/>
            <a:ext cx="5212080" cy="3749039"/>
          </a:xfrm>
          <a:prstGeom prst="roundRect">
            <a:avLst>
              <a:gd name="adj" fmla="val 5000"/>
            </a:avLst>
          </a:prstGeom>
          <a:solidFill>
            <a:srgbClr val="31334A"/>
          </a:solidFill>
          <a:ln w="12700">
            <a:solidFill>
              <a:srgbClr val="F2D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01168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F2D49A"/>
                </a:solidFill>
                <a:latin typeface="Segoe UI"/>
              </a:rPr>
              <a:t>Dalsze kroki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A99BC0"/>
                </a:solidFill>
                <a:latin typeface="Segoe UI"/>
              </a:rPr>
              <a:t>→  backend w PHP i połączenie z bazą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A99BC0"/>
                </a:solidFill>
                <a:latin typeface="Segoe UI"/>
              </a:rPr>
              <a:t>→  interfejs zgodny z makietami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A99BC0"/>
                </a:solidFill>
                <a:latin typeface="Segoe UI"/>
              </a:rPr>
              <a:t>→  testy w katalogu tests/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A99BC0"/>
                </a:solidFill>
                <a:latin typeface="Segoe UI"/>
              </a:rPr>
              <a:t>→  kolejne zadania z tabeli zadań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7607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DADAFF"/>
                </a:solidFill>
                <a:latin typeface="Segoe UI"/>
              </a:rPr>
              <a:t>Dziękuję za uwagę!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99BC0"/>
                </a:solidFill>
                <a:latin typeface="Segoe UI"/>
              </a:rPr>
              <a:t>TaskNest — praca praktyczna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7395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A99BC0"/>
                </a:solidFill>
                <a:latin typeface="Segoe U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TaskNest — prezentacja projektu</dc:title>
  <dc:subject/>
  <dc:creator>daggermvpp-boop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